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CCMB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marker>
            <c:spPr>
              <a:solidFill>
                <a:srgbClr val="2A78D6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  <c:pt idx="10">
                  <c:v>2026*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110</c:v>
                </c:pt>
                <c:pt idx="1">
                  <c:v>104</c:v>
                </c:pt>
                <c:pt idx="2">
                  <c:v>82</c:v>
                </c:pt>
                <c:pt idx="3">
                  <c:v>103</c:v>
                </c:pt>
                <c:pt idx="4">
                  <c:v>106</c:v>
                </c:pt>
                <c:pt idx="5">
                  <c:v>161</c:v>
                </c:pt>
                <c:pt idx="6">
                  <c:v>136</c:v>
                </c:pt>
                <c:pt idx="7">
                  <c:v>121</c:v>
                </c:pt>
                <c:pt idx="8">
                  <c:v>95</c:v>
                </c:pt>
                <c:pt idx="9">
                  <c:v>112</c:v>
                </c:pt>
                <c:pt idx="10">
                  <c:v>74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IGIB</c:v>
                </c:pt>
              </c:strCache>
            </c:strRef>
          </c:tx>
          <c:spPr>
            <a:ln w="28575">
              <a:solidFill>
                <a:srgbClr val="EB6834"/>
              </a:solidFill>
            </a:ln>
          </c:spPr>
          <c:marker>
            <c:spPr>
              <a:solidFill>
                <a:srgbClr val="EB6834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  <c:pt idx="10">
                  <c:v>2026*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143</c:v>
                </c:pt>
                <c:pt idx="1">
                  <c:v>130</c:v>
                </c:pt>
                <c:pt idx="2">
                  <c:v>124</c:v>
                </c:pt>
                <c:pt idx="3">
                  <c:v>104</c:v>
                </c:pt>
                <c:pt idx="4">
                  <c:v>106</c:v>
                </c:pt>
                <c:pt idx="5">
                  <c:v>171</c:v>
                </c:pt>
                <c:pt idx="6">
                  <c:v>148</c:v>
                </c:pt>
                <c:pt idx="7">
                  <c:v>132</c:v>
                </c:pt>
                <c:pt idx="8">
                  <c:v>155</c:v>
                </c:pt>
                <c:pt idx="9">
                  <c:v>129</c:v>
                </c:pt>
                <c:pt idx="10">
                  <c:v>75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IMTECH</c:v>
                </c:pt>
              </c:strCache>
            </c:strRef>
          </c:tx>
          <c:spPr>
            <a:ln w="28575">
              <a:solidFill>
                <a:srgbClr val="1BAF7A"/>
              </a:solidFill>
            </a:ln>
          </c:spPr>
          <c:marker>
            <c:spPr>
              <a:solidFill>
                <a:srgbClr val="1BAF7A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  <c:pt idx="10">
                  <c:v>2026*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84</c:v>
                </c:pt>
                <c:pt idx="1">
                  <c:v>75</c:v>
                </c:pt>
                <c:pt idx="2">
                  <c:v>91</c:v>
                </c:pt>
                <c:pt idx="3">
                  <c:v>66</c:v>
                </c:pt>
                <c:pt idx="4">
                  <c:v>71</c:v>
                </c:pt>
                <c:pt idx="5">
                  <c:v>74</c:v>
                </c:pt>
                <c:pt idx="6">
                  <c:v>77</c:v>
                </c:pt>
                <c:pt idx="7">
                  <c:v>69</c:v>
                </c:pt>
                <c:pt idx="8">
                  <c:v>84</c:v>
                </c:pt>
                <c:pt idx="9">
                  <c:v>66</c:v>
                </c:pt>
                <c:pt idx="10">
                  <c:v>60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CDRI</c:v>
                </c:pt>
              </c:strCache>
            </c:strRef>
          </c:tx>
          <c:spPr>
            <a:ln w="28575">
              <a:solidFill>
                <a:srgbClr val="EDA100"/>
              </a:solidFill>
            </a:ln>
          </c:spPr>
          <c:marker>
            <c:spPr>
              <a:solidFill>
                <a:srgbClr val="EDA100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  <c:pt idx="10">
                  <c:v>2026*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306</c:v>
                </c:pt>
                <c:pt idx="1">
                  <c:v>241</c:v>
                </c:pt>
                <c:pt idx="2">
                  <c:v>240</c:v>
                </c:pt>
                <c:pt idx="3">
                  <c:v>204</c:v>
                </c:pt>
                <c:pt idx="4">
                  <c:v>202</c:v>
                </c:pt>
                <c:pt idx="5">
                  <c:v>228</c:v>
                </c:pt>
                <c:pt idx="6">
                  <c:v>291</c:v>
                </c:pt>
                <c:pt idx="7">
                  <c:v>274</c:v>
                </c:pt>
                <c:pt idx="8">
                  <c:v>264</c:v>
                </c:pt>
                <c:pt idx="9">
                  <c:v>270</c:v>
                </c:pt>
                <c:pt idx="10">
                  <c:v>179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E3E4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DE3E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rgbClr val="4E5A5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Q1</c:v>
                </c:pt>
              </c:strCache>
            </c:strRef>
          </c:tx>
          <c:spPr>
            <a:solidFill>
              <a:srgbClr val="104281"/>
            </a:solidFill>
          </c:spPr>
          <c:cat>
            <c:strRef>
              <c:f>Sheet1!$A$2:$A$6</c:f>
              <c:strCache>
                <c:ptCount val="5"/>
                <c:pt idx="0">
                  <c:v>All</c:v>
                </c:pt>
                <c:pt idx="1">
                  <c:v>CDRI</c:v>
                </c:pt>
                <c:pt idx="2">
                  <c:v>IMTECH</c:v>
                </c:pt>
                <c:pt idx="3">
                  <c:v>IGIB</c:v>
                </c:pt>
                <c:pt idx="4">
                  <c:v>CCMB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0.6613</c:v>
                </c:pt>
                <c:pt idx="1">
                  <c:v>0.6309</c:v>
                </c:pt>
                <c:pt idx="2">
                  <c:v>0.765</c:v>
                </c:pt>
                <c:pt idx="3">
                  <c:v>0.6247</c:v>
                </c:pt>
                <c:pt idx="4">
                  <c:v>0.7136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</c:v>
                </c:pt>
              </c:strCache>
            </c:strRef>
          </c:tx>
          <c:spPr>
            <a:solidFill>
              <a:srgbClr val="256ABF"/>
            </a:solidFill>
          </c:spPr>
          <c:cat>
            <c:strRef>
              <c:f>Sheet1!$A$2:$A$6</c:f>
              <c:strCache>
                <c:ptCount val="5"/>
                <c:pt idx="0">
                  <c:v>All</c:v>
                </c:pt>
                <c:pt idx="1">
                  <c:v>CDRI</c:v>
                </c:pt>
                <c:pt idx="2">
                  <c:v>IMTECH</c:v>
                </c:pt>
                <c:pt idx="3">
                  <c:v>IGIB</c:v>
                </c:pt>
                <c:pt idx="4">
                  <c:v>CCMB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0.2485</c:v>
                </c:pt>
                <c:pt idx="1">
                  <c:v>0.2759</c:v>
                </c:pt>
                <c:pt idx="2">
                  <c:v>0.18</c:v>
                </c:pt>
                <c:pt idx="3">
                  <c:v>0.2621</c:v>
                </c:pt>
                <c:pt idx="4">
                  <c:v>0.2096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Q3</c:v>
                </c:pt>
              </c:strCache>
            </c:strRef>
          </c:tx>
          <c:spPr>
            <a:solidFill>
              <a:srgbClr val="5598E7"/>
            </a:solidFill>
          </c:spPr>
          <c:cat>
            <c:strRef>
              <c:f>Sheet1!$A$2:$A$6</c:f>
              <c:strCache>
                <c:ptCount val="5"/>
                <c:pt idx="0">
                  <c:v>All</c:v>
                </c:pt>
                <c:pt idx="1">
                  <c:v>CDRI</c:v>
                </c:pt>
                <c:pt idx="2">
                  <c:v>IMTECH</c:v>
                </c:pt>
                <c:pt idx="3">
                  <c:v>IGIB</c:v>
                </c:pt>
                <c:pt idx="4">
                  <c:v>CCMB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0.0749</c:v>
                </c:pt>
                <c:pt idx="1">
                  <c:v>0.0822</c:v>
                </c:pt>
                <c:pt idx="2">
                  <c:v>0.0488</c:v>
                </c:pt>
                <c:pt idx="3">
                  <c:v>0.0894</c:v>
                </c:pt>
                <c:pt idx="4">
                  <c:v>0.0553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Q4</c:v>
                </c:pt>
              </c:strCache>
            </c:strRef>
          </c:tx>
          <c:spPr>
            <a:solidFill>
              <a:srgbClr val="86B6EF"/>
            </a:solidFill>
          </c:spPr>
          <c:cat>
            <c:strRef>
              <c:f>Sheet1!$A$2:$A$6</c:f>
              <c:strCache>
                <c:ptCount val="5"/>
                <c:pt idx="0">
                  <c:v>All</c:v>
                </c:pt>
                <c:pt idx="1">
                  <c:v>CDRI</c:v>
                </c:pt>
                <c:pt idx="2">
                  <c:v>IMTECH</c:v>
                </c:pt>
                <c:pt idx="3">
                  <c:v>IGIB</c:v>
                </c:pt>
                <c:pt idx="4">
                  <c:v>CCMB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0.0153</c:v>
                </c:pt>
                <c:pt idx="1">
                  <c:v>0.0111</c:v>
                </c:pt>
                <c:pt idx="2">
                  <c:v>0.0062</c:v>
                </c:pt>
                <c:pt idx="3">
                  <c:v>0.0238</c:v>
                </c:pt>
                <c:pt idx="4">
                  <c:v>0.0214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3E4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DE3E4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4E5A5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CCMB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Sheet1!$A$2:$A$8</c:f>
              <c:strCache>
                <c:ptCount val="7"/>
                <c:pt idx="0">
                  <c:v>0–4</c:v>
                </c:pt>
                <c:pt idx="1">
                  <c:v>5–9</c:v>
                </c:pt>
                <c:pt idx="2">
                  <c:v>10–14</c:v>
                </c:pt>
                <c:pt idx="3">
                  <c:v>15–19</c:v>
                </c:pt>
                <c:pt idx="4">
                  <c:v>20–24</c:v>
                </c:pt>
                <c:pt idx="5">
                  <c:v>25–29</c:v>
                </c:pt>
                <c:pt idx="6">
                  <c:v>30–34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</c:v>
                </c:pt>
                <c:pt idx="1">
                  <c:v>17</c:v>
                </c:pt>
                <c:pt idx="2">
                  <c:v>16</c:v>
                </c:pt>
                <c:pt idx="3">
                  <c:v>5</c:v>
                </c:pt>
                <c:pt idx="4">
                  <c:v>5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IGIB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Sheet1!$A$2:$A$8</c:f>
              <c:strCache>
                <c:ptCount val="7"/>
                <c:pt idx="0">
                  <c:v>0–4</c:v>
                </c:pt>
                <c:pt idx="1">
                  <c:v>5–9</c:v>
                </c:pt>
                <c:pt idx="2">
                  <c:v>10–14</c:v>
                </c:pt>
                <c:pt idx="3">
                  <c:v>15–19</c:v>
                </c:pt>
                <c:pt idx="4">
                  <c:v>20–24</c:v>
                </c:pt>
                <c:pt idx="5">
                  <c:v>25–29</c:v>
                </c:pt>
                <c:pt idx="6">
                  <c:v>30–34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9</c:v>
                </c:pt>
                <c:pt idx="1">
                  <c:v>12</c:v>
                </c:pt>
                <c:pt idx="2">
                  <c:v>19</c:v>
                </c:pt>
                <c:pt idx="3">
                  <c:v>5</c:v>
                </c:pt>
                <c:pt idx="4">
                  <c:v>7</c:v>
                </c:pt>
                <c:pt idx="5">
                  <c:v>1</c:v>
                </c:pt>
                <c:pt idx="6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IMTECH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Sheet1!$A$2:$A$8</c:f>
              <c:strCache>
                <c:ptCount val="7"/>
                <c:pt idx="0">
                  <c:v>0–4</c:v>
                </c:pt>
                <c:pt idx="1">
                  <c:v>5–9</c:v>
                </c:pt>
                <c:pt idx="2">
                  <c:v>10–14</c:v>
                </c:pt>
                <c:pt idx="3">
                  <c:v>15–19</c:v>
                </c:pt>
                <c:pt idx="4">
                  <c:v>20–24</c:v>
                </c:pt>
                <c:pt idx="5">
                  <c:v>25–29</c:v>
                </c:pt>
                <c:pt idx="6">
                  <c:v>30–34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13</c:v>
                </c:pt>
                <c:pt idx="1">
                  <c:v>14</c:v>
                </c:pt>
                <c:pt idx="2">
                  <c:v>11</c:v>
                </c:pt>
                <c:pt idx="3">
                  <c:v>5</c:v>
                </c:pt>
                <c:pt idx="4">
                  <c:v>6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CDRI</c:v>
                </c:pt>
              </c:strCache>
            </c:strRef>
          </c:tx>
          <c:spPr>
            <a:solidFill>
              <a:srgbClr val="EDA100"/>
            </a:solidFill>
          </c:spPr>
          <c:cat>
            <c:strRef>
              <c:f>Sheet1!$A$2:$A$8</c:f>
              <c:strCache>
                <c:ptCount val="7"/>
                <c:pt idx="0">
                  <c:v>0–4</c:v>
                </c:pt>
                <c:pt idx="1">
                  <c:v>5–9</c:v>
                </c:pt>
                <c:pt idx="2">
                  <c:v>10–14</c:v>
                </c:pt>
                <c:pt idx="3">
                  <c:v>15–19</c:v>
                </c:pt>
                <c:pt idx="4">
                  <c:v>20–24</c:v>
                </c:pt>
                <c:pt idx="5">
                  <c:v>25–29</c:v>
                </c:pt>
                <c:pt idx="6">
                  <c:v>30–34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23</c:v>
                </c:pt>
                <c:pt idx="1">
                  <c:v>21</c:v>
                </c:pt>
                <c:pt idx="2">
                  <c:v>28</c:v>
                </c:pt>
                <c:pt idx="3">
                  <c:v>23</c:v>
                </c:pt>
                <c:pt idx="4">
                  <c:v>12</c:v>
                </c:pt>
                <c:pt idx="5">
                  <c:v>7</c:v>
                </c:pt>
                <c:pt idx="6">
                  <c:v>2</c:v>
                </c:pt>
              </c:numCache>
            </c:numRef>
          </c:val>
        </c:ser>
        <c:gapWidth val="3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E3E4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E3E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4E5A5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CCMB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Sheet1!$A$2:$A$7</c:f>
              <c:strCache>
                <c:ptCount val="6"/>
                <c:pt idx="0">
                  <c:v>Immunology and Microbiology</c:v>
                </c:pt>
                <c:pt idx="1">
                  <c:v>Agri. &amp; Biological Sciences</c:v>
                </c:pt>
                <c:pt idx="2">
                  <c:v>Materials Science</c:v>
                </c:pt>
                <c:pt idx="3">
                  <c:v>Chemistry</c:v>
                </c:pt>
                <c:pt idx="4">
                  <c:v>Biochem., Genetics &amp; Mol. Bio.</c:v>
                </c:pt>
                <c:pt idx="5">
                  <c:v>Medicine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0.0266</c:v>
                </c:pt>
                <c:pt idx="1">
                  <c:v>0.0556</c:v>
                </c:pt>
                <c:pt idx="2">
                  <c:v>0.0191</c:v>
                </c:pt>
                <c:pt idx="3">
                  <c:v>0.0349</c:v>
                </c:pt>
                <c:pt idx="4">
                  <c:v>0.4444</c:v>
                </c:pt>
                <c:pt idx="5">
                  <c:v>0.2641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IGIB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Sheet1!$A$2:$A$7</c:f>
              <c:strCache>
                <c:ptCount val="6"/>
                <c:pt idx="0">
                  <c:v>Immunology and Microbiology</c:v>
                </c:pt>
                <c:pt idx="1">
                  <c:v>Agri. &amp; Biological Sciences</c:v>
                </c:pt>
                <c:pt idx="2">
                  <c:v>Materials Science</c:v>
                </c:pt>
                <c:pt idx="3">
                  <c:v>Chemistry</c:v>
                </c:pt>
                <c:pt idx="4">
                  <c:v>Biochem., Genetics &amp; Mol. Bio.</c:v>
                </c:pt>
                <c:pt idx="5">
                  <c:v>Medicine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0.0289</c:v>
                </c:pt>
                <c:pt idx="1">
                  <c:v>0.0205</c:v>
                </c:pt>
                <c:pt idx="2">
                  <c:v>0.0402</c:v>
                </c:pt>
                <c:pt idx="3">
                  <c:v>0.0191</c:v>
                </c:pt>
                <c:pt idx="4">
                  <c:v>0.3698</c:v>
                </c:pt>
                <c:pt idx="5">
                  <c:v>0.3917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IMTECH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Sheet1!$A$2:$A$7</c:f>
              <c:strCache>
                <c:ptCount val="6"/>
                <c:pt idx="0">
                  <c:v>Immunology and Microbiology</c:v>
                </c:pt>
                <c:pt idx="1">
                  <c:v>Agri. &amp; Biological Sciences</c:v>
                </c:pt>
                <c:pt idx="2">
                  <c:v>Materials Science</c:v>
                </c:pt>
                <c:pt idx="3">
                  <c:v>Chemistry</c:v>
                </c:pt>
                <c:pt idx="4">
                  <c:v>Biochem., Genetics &amp; Mol. Bio.</c:v>
                </c:pt>
                <c:pt idx="5">
                  <c:v>Medicine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0.0502</c:v>
                </c:pt>
                <c:pt idx="1">
                  <c:v>0.0918</c:v>
                </c:pt>
                <c:pt idx="2">
                  <c:v>0.0428</c:v>
                </c:pt>
                <c:pt idx="3">
                  <c:v>0.0233</c:v>
                </c:pt>
                <c:pt idx="4">
                  <c:v>0.3831</c:v>
                </c:pt>
                <c:pt idx="5">
                  <c:v>0.2424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CDRI</c:v>
                </c:pt>
              </c:strCache>
            </c:strRef>
          </c:tx>
          <c:spPr>
            <a:solidFill>
              <a:srgbClr val="EDA100"/>
            </a:solidFill>
          </c:spPr>
          <c:cat>
            <c:strRef>
              <c:f>Sheet1!$A$2:$A$7</c:f>
              <c:strCache>
                <c:ptCount val="6"/>
                <c:pt idx="0">
                  <c:v>Immunology and Microbiology</c:v>
                </c:pt>
                <c:pt idx="1">
                  <c:v>Agri. &amp; Biological Sciences</c:v>
                </c:pt>
                <c:pt idx="2">
                  <c:v>Materials Science</c:v>
                </c:pt>
                <c:pt idx="3">
                  <c:v>Chemistry</c:v>
                </c:pt>
                <c:pt idx="4">
                  <c:v>Biochem., Genetics &amp; Mol. Bio.</c:v>
                </c:pt>
                <c:pt idx="5">
                  <c:v>Medicine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0.0404</c:v>
                </c:pt>
                <c:pt idx="1">
                  <c:v>0.023</c:v>
                </c:pt>
                <c:pt idx="2">
                  <c:v>0.0519</c:v>
                </c:pt>
                <c:pt idx="3">
                  <c:v>0.236</c:v>
                </c:pt>
                <c:pt idx="4">
                  <c:v>0.196</c:v>
                </c:pt>
                <c:pt idx="5">
                  <c:v>0.3457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3E4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DE3E4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4E5A5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CCMB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marker>
            <c:spPr>
              <a:solidFill>
                <a:srgbClr val="2A78D6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  <c:pt idx="10">
                  <c:v>2026*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20</c:v>
                </c:pt>
                <c:pt idx="1">
                  <c:v>87</c:v>
                </c:pt>
                <c:pt idx="2">
                  <c:v>196</c:v>
                </c:pt>
                <c:pt idx="3">
                  <c:v>292</c:v>
                </c:pt>
                <c:pt idx="4">
                  <c:v>352</c:v>
                </c:pt>
                <c:pt idx="5">
                  <c:v>629</c:v>
                </c:pt>
                <c:pt idx="6">
                  <c:v>719</c:v>
                </c:pt>
                <c:pt idx="7">
                  <c:v>669</c:v>
                </c:pt>
                <c:pt idx="8">
                  <c:v>862</c:v>
                </c:pt>
                <c:pt idx="9">
                  <c:v>900</c:v>
                </c:pt>
                <c:pt idx="10">
                  <c:v>674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IGIB</c:v>
                </c:pt>
              </c:strCache>
            </c:strRef>
          </c:tx>
          <c:spPr>
            <a:ln w="28575">
              <a:solidFill>
                <a:srgbClr val="EB6834"/>
              </a:solidFill>
            </a:ln>
          </c:spPr>
          <c:marker>
            <c:spPr>
              <a:solidFill>
                <a:srgbClr val="EB6834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  <c:pt idx="10">
                  <c:v>2026*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38</c:v>
                </c:pt>
                <c:pt idx="1">
                  <c:v>143</c:v>
                </c:pt>
                <c:pt idx="2">
                  <c:v>229</c:v>
                </c:pt>
                <c:pt idx="3">
                  <c:v>345</c:v>
                </c:pt>
                <c:pt idx="4">
                  <c:v>435</c:v>
                </c:pt>
                <c:pt idx="5">
                  <c:v>883</c:v>
                </c:pt>
                <c:pt idx="6">
                  <c:v>978</c:v>
                </c:pt>
                <c:pt idx="7">
                  <c:v>1246</c:v>
                </c:pt>
                <c:pt idx="8">
                  <c:v>1221</c:v>
                </c:pt>
                <c:pt idx="9">
                  <c:v>1176</c:v>
                </c:pt>
                <c:pt idx="10">
                  <c:v>875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IMTECH</c:v>
                </c:pt>
              </c:strCache>
            </c:strRef>
          </c:tx>
          <c:spPr>
            <a:ln w="28575">
              <a:solidFill>
                <a:srgbClr val="1BAF7A"/>
              </a:solidFill>
            </a:ln>
          </c:spPr>
          <c:marker>
            <c:spPr>
              <a:solidFill>
                <a:srgbClr val="1BAF7A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  <c:pt idx="10">
                  <c:v>2026*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14</c:v>
                </c:pt>
                <c:pt idx="1">
                  <c:v>67</c:v>
                </c:pt>
                <c:pt idx="2">
                  <c:v>170</c:v>
                </c:pt>
                <c:pt idx="3">
                  <c:v>258</c:v>
                </c:pt>
                <c:pt idx="4">
                  <c:v>348</c:v>
                </c:pt>
                <c:pt idx="5">
                  <c:v>530</c:v>
                </c:pt>
                <c:pt idx="6">
                  <c:v>577</c:v>
                </c:pt>
                <c:pt idx="7">
                  <c:v>664</c:v>
                </c:pt>
                <c:pt idx="8">
                  <c:v>800</c:v>
                </c:pt>
                <c:pt idx="9">
                  <c:v>775</c:v>
                </c:pt>
                <c:pt idx="10">
                  <c:v>603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CDRI</c:v>
                </c:pt>
              </c:strCache>
            </c:strRef>
          </c:tx>
          <c:spPr>
            <a:ln w="28575">
              <a:solidFill>
                <a:srgbClr val="EDA100"/>
              </a:solidFill>
            </a:ln>
          </c:spPr>
          <c:marker>
            <c:spPr>
              <a:solidFill>
                <a:srgbClr val="EDA100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  <c:pt idx="10">
                  <c:v>2026*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46</c:v>
                </c:pt>
                <c:pt idx="1">
                  <c:v>206</c:v>
                </c:pt>
                <c:pt idx="2">
                  <c:v>392</c:v>
                </c:pt>
                <c:pt idx="3">
                  <c:v>642</c:v>
                </c:pt>
                <c:pt idx="4">
                  <c:v>932</c:v>
                </c:pt>
                <c:pt idx="5">
                  <c:v>1200</c:v>
                </c:pt>
                <c:pt idx="6">
                  <c:v>1523</c:v>
                </c:pt>
                <c:pt idx="7">
                  <c:v>1716</c:v>
                </c:pt>
                <c:pt idx="8">
                  <c:v>2268</c:v>
                </c:pt>
                <c:pt idx="9">
                  <c:v>2412</c:v>
                </c:pt>
                <c:pt idx="10">
                  <c:v>1790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E3E4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DE3E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rgbClr val="4E5A5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Shared papers</c:v>
                </c:pt>
              </c:strCache>
            </c:strRef>
          </c:tx>
          <c:spPr>
            <a:solidFill>
              <a:srgbClr val="16323A"/>
            </a:solidFill>
          </c:spPr>
          <c:cat>
            <c:strRef>
              <c:f>Sheet1!$A$2:$A$9</c:f>
              <c:strCache>
                <c:ptCount val="8"/>
                <c:pt idx="0">
                  <c:v>CSIR – IISc/TIFR/IISER</c:v>
                </c:pt>
                <c:pt idx="1">
                  <c:v>CSIR – IIT</c:v>
                </c:pt>
                <c:pt idx="2">
                  <c:v>CSIR – Government</c:v>
                </c:pt>
                <c:pt idx="3">
                  <c:v>CSIR – Central University</c:v>
                </c:pt>
                <c:pt idx="4">
                  <c:v>CSIR – Other</c:v>
                </c:pt>
                <c:pt idx="5">
                  <c:v>CSIR – Medical</c:v>
                </c:pt>
                <c:pt idx="6">
                  <c:v>CSIR – CSIR</c:v>
                </c:pt>
                <c:pt idx="7">
                  <c:v>CSIR – University (other)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242</c:v>
                </c:pt>
                <c:pt idx="1">
                  <c:v>295</c:v>
                </c:pt>
                <c:pt idx="2">
                  <c:v>458</c:v>
                </c:pt>
                <c:pt idx="3">
                  <c:v>650</c:v>
                </c:pt>
                <c:pt idx="4">
                  <c:v>660</c:v>
                </c:pt>
                <c:pt idx="5">
                  <c:v>1053</c:v>
                </c:pt>
                <c:pt idx="6">
                  <c:v>1065</c:v>
                </c:pt>
                <c:pt idx="7">
                  <c:v>2157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1F2A2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3E4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DE3E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4E5A5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600" b="0" i="0">
                <a:solidFill>
                  <a:srgbClr val="9FC3C9"/>
                </a:solidFill>
                <a:latin typeface="Calibri"/>
              </a:rPr>
              <a:t>DPCN Research Mapping · Group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15544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Research output, citation and collaboration networks of four CSIR biology labs, 2016–2026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71800"/>
            <a:ext cx="1097280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600" b="0" i="0">
                <a:solidFill>
                  <a:srgbClr val="C9D6D8"/>
                </a:solidFill>
                <a:latin typeface="Calibri"/>
              </a:rPr>
              <a:t>CSIR-CCMB Hyderabad · CSIR-IGIB New Delhi · CSIR-IMTECH Chandigarh · CSIR-CDRI Lucknow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931920"/>
            <a:ext cx="2057400" cy="1143000"/>
          </a:xfrm>
          <a:prstGeom prst="roundRect">
            <a:avLst>
              <a:gd name="adj" fmla="val 6000"/>
            </a:avLst>
          </a:prstGeom>
          <a:solidFill>
            <a:srgbClr val="21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4041648"/>
            <a:ext cx="1691640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6,063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4590288"/>
            <a:ext cx="1691640" cy="4114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200" b="0" i="0">
                <a:solidFill>
                  <a:srgbClr val="C9D6D8"/>
                </a:solidFill>
                <a:latin typeface="Calibri"/>
              </a:rPr>
              <a:t>unique papers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3931920"/>
            <a:ext cx="2057400" cy="1143000"/>
          </a:xfrm>
          <a:prstGeom prst="roundRect">
            <a:avLst>
              <a:gd name="adj" fmla="val 6000"/>
            </a:avLst>
          </a:prstGeom>
          <a:solidFill>
            <a:srgbClr val="21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4041648"/>
            <a:ext cx="1691640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144,139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4590288"/>
            <a:ext cx="1691640" cy="4114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200" b="0" i="0">
                <a:solidFill>
                  <a:srgbClr val="C9D6D8"/>
                </a:solidFill>
                <a:latin typeface="Calibri"/>
              </a:rPr>
              <a:t>citations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3931920"/>
            <a:ext cx="2057400" cy="1143000"/>
          </a:xfrm>
          <a:prstGeom prst="roundRect">
            <a:avLst>
              <a:gd name="adj" fmla="val 6000"/>
            </a:avLst>
          </a:prstGeom>
          <a:solidFill>
            <a:srgbClr val="21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4041648"/>
            <a:ext cx="1691640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274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4590288"/>
            <a:ext cx="1691640" cy="4114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200" b="0" i="0">
                <a:solidFill>
                  <a:srgbClr val="C9D6D8"/>
                </a:solidFill>
                <a:latin typeface="Calibri"/>
              </a:rPr>
              <a:t>faculty with papers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3931920"/>
            <a:ext cx="2057400" cy="1143000"/>
          </a:xfrm>
          <a:prstGeom prst="roundRect">
            <a:avLst>
              <a:gd name="adj" fmla="val 6000"/>
            </a:avLst>
          </a:prstGeom>
          <a:solidFill>
            <a:srgbClr val="21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4041648"/>
            <a:ext cx="1691640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66%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4590288"/>
            <a:ext cx="1691640" cy="4114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200" b="0" i="0">
                <a:solidFill>
                  <a:srgbClr val="C9D6D8"/>
                </a:solidFill>
                <a:latin typeface="Calibri"/>
              </a:rPr>
              <a:t>Q1 share of ranked journal papers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3931920"/>
            <a:ext cx="2057400" cy="1143000"/>
          </a:xfrm>
          <a:prstGeom prst="roundRect">
            <a:avLst>
              <a:gd name="adj" fmla="val 6000"/>
            </a:avLst>
          </a:prstGeom>
          <a:solidFill>
            <a:srgbClr val="21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4041648"/>
            <a:ext cx="1691640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123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4590288"/>
            <a:ext cx="1691640" cy="4114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200" b="0" i="0">
                <a:solidFill>
                  <a:srgbClr val="C9D6D8"/>
                </a:solidFill>
                <a:latin typeface="Calibri"/>
              </a:rPr>
              <a:t>institutional h-index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100" b="0" i="0">
                <a:solidFill>
                  <a:srgbClr val="9FC3C9"/>
                </a:solidFill>
                <a:latin typeface="Calibri"/>
              </a:rPr>
              <a:t>Source: OpenAlex snapshot 2026-10-13; Scimago SJR; CORE2023. Instructor: Chittaranjan Hens. 2026 is a partial year.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3000" b="1" i="0">
                <a:solidFill>
                  <a:srgbClr val="1F2A2E"/>
                </a:solidFill>
                <a:latin typeface="Cambria"/>
              </a:rPr>
              <a:t>Data and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500" b="0" i="1">
                <a:solidFill>
                  <a:srgbClr val="4E5A5E"/>
                </a:solidFill>
                <a:latin typeface="Calibri"/>
              </a:rPr>
              <a:t>A reproducible OpenAlex pipeline; every number here is regenerated from the submitted CSVs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/>
            <a:r>
              <a:rPr sz="1000" b="0" i="0">
                <a:solidFill>
                  <a:srgbClr val="8A9497"/>
                </a:solidFill>
                <a:latin typeface="Calibri"/>
              </a:rPr>
              <a:t>DPCN Group 29 · CSIR biology labs ·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2633472" cy="205740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19072"/>
            <a:ext cx="2286000" cy="4114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800" b="1" i="0">
                <a:solidFill>
                  <a:srgbClr val="1F2A2E"/>
                </a:solidFill>
                <a:latin typeface="Cambria"/>
              </a:rPr>
              <a:t>1  Roster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76272"/>
            <a:ext cx="2286000" cy="1417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300" b="0" i="0">
                <a:solidFill>
                  <a:srgbClr val="4E5A5E"/>
                </a:solidFill>
                <a:latin typeface="Calibri"/>
              </a:rPr>
              <a:t>294 scientists: lab websites plus PIs found from lab-affiliated authorship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1600200"/>
            <a:ext cx="2633472" cy="205740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1719072"/>
            <a:ext cx="2286000" cy="4114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800" b="1" i="0">
                <a:solidFill>
                  <a:srgbClr val="1F2A2E"/>
                </a:solidFill>
                <a:latin typeface="Cambria"/>
              </a:rPr>
              <a:t>2  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2176272"/>
            <a:ext cx="2286000" cy="1417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300" b="0" i="0">
                <a:solidFill>
                  <a:srgbClr val="4E5A5E"/>
                </a:solidFill>
                <a:latin typeface="Calibri"/>
              </a:rPr>
              <a:t>Each scientist matched to one or more OpenAlex author IDs (ORCID, own publication list, name)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00200"/>
            <a:ext cx="2633472" cy="205740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719072"/>
            <a:ext cx="2286000" cy="4114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800" b="1" i="0">
                <a:solidFill>
                  <a:srgbClr val="1F2A2E"/>
                </a:solidFill>
                <a:latin typeface="Cambria"/>
              </a:rPr>
              <a:t>3  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176272"/>
            <a:ext cx="2286000" cy="1417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300" b="0" i="0">
                <a:solidFill>
                  <a:srgbClr val="4E5A5E"/>
                </a:solidFill>
                <a:latin typeface="Calibri"/>
              </a:rPr>
              <a:t>A paper counts only if the scientist's own authorship carries the lab; articles, reviews, letters, conference papers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7696" y="1600200"/>
            <a:ext cx="2633472" cy="205740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0576" y="1719072"/>
            <a:ext cx="2286000" cy="4114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800" b="1" i="0">
                <a:solidFill>
                  <a:srgbClr val="1F2A2E"/>
                </a:solidFill>
                <a:latin typeface="Cambria"/>
              </a:rPr>
              <a:t>4  Enrich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0576" y="2176272"/>
            <a:ext cx="2286000" cy="1417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300" b="0" i="0">
                <a:solidFill>
                  <a:srgbClr val="4E5A5E"/>
                </a:solidFill>
                <a:latin typeface="Calibri"/>
              </a:rPr>
              <a:t>SJR quartile of the publication year (coverage 93%–98%); OpenAlex topics; Indian citation flows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8640" y="3977639"/>
          <a:ext cx="58521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188720"/>
                <a:gridCol w="1280160"/>
                <a:gridCol w="210312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Faculty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Papers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Coverage of lab output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2E"/>
                          </a:solidFill>
                          <a:latin typeface="Calibri"/>
                        </a:rPr>
                        <a:t>CCMB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2E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2E"/>
                          </a:solidFill>
                          <a:latin typeface="Calibri"/>
                        </a:rPr>
                        <a:t>1,204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2E"/>
                          </a:solidFill>
                          <a:latin typeface="Calibri"/>
                        </a:rPr>
                        <a:t>71%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2E"/>
                          </a:solidFill>
                          <a:latin typeface="Calibri"/>
                        </a:rPr>
                        <a:t>IGIB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2E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2E"/>
                          </a:solidFill>
                          <a:latin typeface="Calibri"/>
                        </a:rPr>
                        <a:t>1,417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2E"/>
                          </a:solidFill>
                          <a:latin typeface="Calibri"/>
                        </a:rPr>
                        <a:t>74%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2E"/>
                          </a:solidFill>
                          <a:latin typeface="Calibri"/>
                        </a:rPr>
                        <a:t>IMTECH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2E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2E"/>
                          </a:solidFill>
                          <a:latin typeface="Calibri"/>
                        </a:rPr>
                        <a:t>817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2E"/>
                          </a:solidFill>
                          <a:latin typeface="Calibri"/>
                        </a:rPr>
                        <a:t>72%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2E"/>
                          </a:solidFill>
                          <a:latin typeface="Calibri"/>
                        </a:rPr>
                        <a:t>CDRI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2E"/>
                          </a:solidFill>
                          <a:latin typeface="Calibri"/>
                        </a:rPr>
                        <a:t>116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2E"/>
                          </a:solidFill>
                          <a:latin typeface="Calibri"/>
                        </a:rPr>
                        <a:t>2,699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2E"/>
                          </a:solidFill>
                          <a:latin typeface="Calibri"/>
                        </a:rPr>
                        <a:t>80%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766560" y="393192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700"/>
              </a:spcAft>
              <a:buChar char="•"/>
            </a:pPr>
            <a:r>
              <a:rPr sz="1300">
                <a:solidFill>
                  <a:srgbClr val="1F2A2E"/>
                </a:solidFill>
                <a:latin typeface="Calibri"/>
              </a:rPr>
              <a:t>Faculty = scientists/PIs; students and postdocs appear only as co-authors</a:t>
            </a:r>
          </a:p>
          <a:p>
            <a:pPr marL="201168" indent="-201168">
              <a:spcAft>
                <a:spcPts val="700"/>
              </a:spcAft>
              <a:buChar char="•"/>
            </a:pPr>
            <a:r>
              <a:rPr sz="1300">
                <a:solidFill>
                  <a:srgbClr val="1F2A2E"/>
                </a:solidFill>
                <a:latin typeface="Calibri"/>
              </a:rPr>
              <a:t>h-index is computed within 2016–2026 from this dataset (lifetime h shown for context)</a:t>
            </a:r>
          </a:p>
          <a:p>
            <a:pPr marL="201168" indent="-201168">
              <a:spcAft>
                <a:spcPts val="700"/>
              </a:spcAft>
              <a:buChar char="•"/>
            </a:pPr>
            <a:r>
              <a:rPr sz="1300">
                <a:solidFill>
                  <a:srgbClr val="1F2A2E"/>
                </a:solidFill>
                <a:latin typeface="Calibri"/>
              </a:rPr>
              <a:t>Indian partner = an Indian institution other than the paper's own lab (CSIR HQ, ministries, AcSIR excluded)</a:t>
            </a:r>
          </a:p>
          <a:p>
            <a:pPr marL="201168" indent="-201168">
              <a:spcAft>
                <a:spcPts val="700"/>
              </a:spcAft>
              <a:buChar char="•"/>
            </a:pPr>
            <a:r>
              <a:rPr sz="1300">
                <a:solidFill>
                  <a:srgbClr val="1F2A2E"/>
                </a:solidFill>
                <a:latin typeface="Calibri"/>
              </a:rPr>
              <a:t>Limitations: OpenAlex author disambiguation; uncovered papers are mostly by students or unlisted staff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3000" b="1" i="0">
                <a:solidFill>
                  <a:srgbClr val="1F2A2E"/>
                </a:solidFill>
                <a:latin typeface="Cambria"/>
              </a:rPr>
              <a:t>Publication trend 2016–2026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500" b="0" i="1">
                <a:solidFill>
                  <a:srgbClr val="4E5A5E"/>
                </a:solidFill>
                <a:latin typeface="Calibri"/>
              </a:rPr>
              <a:t>CDRI publishes most · peak years: CCMB 2021, IGIB 2021, IMTECH 2018, CDRI 2016 · 2026 is a partial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/>
            <a:r>
              <a:rPr sz="1000" b="0" i="0">
                <a:solidFill>
                  <a:srgbClr val="8A9497"/>
                </a:solidFill>
                <a:latin typeface="Calibri"/>
              </a:rPr>
              <a:t>DPCN Group 29 · CSIR biology labs · 3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463040"/>
          <a:ext cx="768096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412480" y="1554480"/>
            <a:ext cx="3246120" cy="105156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0" y="1627632"/>
            <a:ext cx="14630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500" b="1" i="0">
                <a:solidFill>
                  <a:srgbClr val="2A78D6"/>
                </a:solidFill>
                <a:latin typeface="Cambria"/>
              </a:rPr>
              <a:t>CCMB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01752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200" b="0" i="0">
                <a:solidFill>
                  <a:srgbClr val="4E5A5E"/>
                </a:solidFill>
                <a:latin typeface="Calibri"/>
              </a:rPr>
              <a:t>1,204 papers · 36,616 citations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240280"/>
            <a:ext cx="301752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200" b="0" i="0">
                <a:solidFill>
                  <a:srgbClr val="4E5A5E"/>
                </a:solidFill>
                <a:latin typeface="Calibri"/>
              </a:rPr>
              <a:t>CAGR 2016–2025: 0.2%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743200"/>
            <a:ext cx="3246120" cy="105156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2816352"/>
            <a:ext cx="14630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500" b="1" i="0">
                <a:solidFill>
                  <a:srgbClr val="EB6834"/>
                </a:solidFill>
                <a:latin typeface="Cambria"/>
              </a:rPr>
              <a:t>IGIB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154680"/>
            <a:ext cx="301752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200" b="0" i="0">
                <a:solidFill>
                  <a:srgbClr val="4E5A5E"/>
                </a:solidFill>
                <a:latin typeface="Calibri"/>
              </a:rPr>
              <a:t>1,417 papers · 36,787 citations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3429000"/>
            <a:ext cx="301752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200" b="0" i="0">
                <a:solidFill>
                  <a:srgbClr val="4E5A5E"/>
                </a:solidFill>
                <a:latin typeface="Calibri"/>
              </a:rPr>
              <a:t>CAGR 2016–2025: -1.1%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3931920"/>
            <a:ext cx="3246120" cy="105156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4005072"/>
            <a:ext cx="14630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500" b="1" i="0">
                <a:solidFill>
                  <a:srgbClr val="1BAF7A"/>
                </a:solidFill>
                <a:latin typeface="Cambria"/>
              </a:rPr>
              <a:t>IMTECH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343400"/>
            <a:ext cx="301752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200" b="0" i="0">
                <a:solidFill>
                  <a:srgbClr val="4E5A5E"/>
                </a:solidFill>
                <a:latin typeface="Calibri"/>
              </a:rPr>
              <a:t>817 papers · 22,901 citations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617720"/>
            <a:ext cx="301752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200" b="0" i="0">
                <a:solidFill>
                  <a:srgbClr val="4E5A5E"/>
                </a:solidFill>
                <a:latin typeface="Calibri"/>
              </a:rPr>
              <a:t>CAGR 2016–2025: -2.6%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5120640"/>
            <a:ext cx="3246120" cy="105156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5193792"/>
            <a:ext cx="14630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500" b="1" i="0">
                <a:solidFill>
                  <a:srgbClr val="EDA100"/>
                </a:solidFill>
                <a:latin typeface="Cambria"/>
              </a:rPr>
              <a:t>CDRI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5532120"/>
            <a:ext cx="301752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200" b="0" i="0">
                <a:solidFill>
                  <a:srgbClr val="4E5A5E"/>
                </a:solidFill>
                <a:latin typeface="Calibri"/>
              </a:rPr>
              <a:t>2,699 papers · 55,256 citations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5806440"/>
            <a:ext cx="301752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200" b="0" i="0">
                <a:solidFill>
                  <a:srgbClr val="4E5A5E"/>
                </a:solidFill>
                <a:latin typeface="Calibri"/>
              </a:rPr>
              <a:t>CAGR 2016–2025: -1.4%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3000" b="1" i="0">
                <a:solidFill>
                  <a:srgbClr val="1F2A2E"/>
                </a:solidFill>
                <a:latin typeface="Cambria"/>
              </a:rPr>
              <a:t>Journal quality: Q1 fraction and top journals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500" b="0" i="1">
                <a:solidFill>
                  <a:srgbClr val="4E5A5E"/>
                </a:solidFill>
                <a:latin typeface="Calibri"/>
              </a:rPr>
              <a:t>Q1 fraction = Q1 papers ÷ journal papers with a known SJR quartile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/>
            <a:r>
              <a:rPr sz="1000" b="0" i="0">
                <a:solidFill>
                  <a:srgbClr val="8A9497"/>
                </a:solidFill>
                <a:latin typeface="Calibri"/>
              </a:rPr>
              <a:t>DPCN Group 29 · CSIR biology labs · 4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463040"/>
          <a:ext cx="512064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440680"/>
            <a:ext cx="5120640" cy="7315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200" b="0" i="0">
                <a:solidFill>
                  <a:srgbClr val="4E5A5E"/>
                </a:solidFill>
                <a:latin typeface="Calibri"/>
              </a:rPr>
              <a:t>CCMB Q1 71% (coverage 93%)  IGIB Q1 62% (coverage 95%)  IMTECH Q1 76% (coverage 98%)  CDRI Q1 63% (coverage 97%)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417320"/>
            <a:ext cx="576072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400" b="1" i="0">
                <a:solidFill>
                  <a:srgbClr val="1F2A2E"/>
                </a:solidFill>
                <a:latin typeface="Cambria"/>
              </a:rPr>
              <a:t>Top 3 journals per lab (top 5 in the dashboard)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0" y="1828800"/>
          <a:ext cx="576071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749039"/>
                <a:gridCol w="685800"/>
                <a:gridCol w="502920"/>
              </a:tblGrid>
              <a:tr h="32355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Journal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Papers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CCMB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Scientific Reports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/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eLife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/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Journal of Biosciences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IGIB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Scientific Reports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/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Indian Journal of Microbiology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Q3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/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Frontiers in Microbiology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IMTECH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Scientific Reports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/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International Journal Of Systematic And…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/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Frontiers in Microbiology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CDRI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European Journal of Medicinal Chemistry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/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Organic Letters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3568">
                <a:tc>
                  <a:txBody>
                    <a:bodyPr/>
                    <a:lstStyle/>
                    <a:p/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The Journal of Organic Chemistry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3000" b="1" i="0">
                <a:solidFill>
                  <a:srgbClr val="1F2A2E"/>
                </a:solidFill>
                <a:latin typeface="Cambria"/>
              </a:rPr>
              <a:t>Faculty: h-index distribution and leaders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500" b="0" i="1">
                <a:solidFill>
                  <a:srgbClr val="4E5A5E"/>
                </a:solidFill>
                <a:latin typeface="Calibri"/>
              </a:rPr>
              <a:t>Window h-index from 2016–2026 dataset papers; department-level summary from the roster divisions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/>
            <a:r>
              <a:rPr sz="1000" b="0" i="0">
                <a:solidFill>
                  <a:srgbClr val="8A9497"/>
                </a:solidFill>
                <a:latin typeface="Calibri"/>
              </a:rPr>
              <a:t>DPCN Group 29 · CSIR biology labs · 5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463040"/>
          <a:ext cx="566928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577840"/>
            <a:ext cx="55778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200" b="0" i="0">
                <a:solidFill>
                  <a:srgbClr val="4E5A5E"/>
                </a:solidFill>
                <a:latin typeface="Calibri"/>
              </a:rPr>
              <a:t>Median h: CCMB 9 · IGIB 11 · IMTECH 8 · CDRI 12 · all 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463040"/>
          <a:ext cx="53035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22960"/>
                <a:gridCol w="731520"/>
                <a:gridCol w="914400"/>
                <a:gridCol w="640080"/>
              </a:tblGrid>
              <a:tr h="29925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Faculty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Papers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Citations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Rajesh Pandey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IGIB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137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4,853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Vinod Scaria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IGIB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160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4,262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Naibedya Chattopadhyay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CDRI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125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3,042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Jiaur R Gayen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CDRI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132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2,950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Kalyan Mitra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CDRI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1,832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Rajender Singh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CDRI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2,711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Prabhat R Mishra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CDRI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1,664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Sarika Singh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CDRI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2,248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Sidharth Chopra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CDRI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185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2,516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92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Muhammad Wahajuddin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CDRI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2,088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A2E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49377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700"/>
              </a:spcAft>
              <a:buChar char="•"/>
            </a:pPr>
            <a:r>
              <a:rPr sz="1200">
                <a:solidFill>
                  <a:srgbClr val="1F2A2E"/>
                </a:solidFill>
                <a:latin typeface="Calibri"/>
              </a:rPr>
              <a:t>108 departments/divisions; largest by output: Medicinal &amp; Process Chemistry (CDRI, 487 papers)</a:t>
            </a:r>
          </a:p>
          <a:p>
            <a:pPr marL="201168" indent="-201168">
              <a:spcAft>
                <a:spcPts val="700"/>
              </a:spcAft>
              <a:buChar char="•"/>
            </a:pPr>
            <a:r>
              <a:rPr sz="1200">
                <a:solidFill>
                  <a:srgbClr val="1F2A2E"/>
                </a:solidFill>
                <a:latin typeface="Calibri"/>
              </a:rPr>
              <a:t>IMTECH publishes no divisions: grouped by each scientist's main OpenAlex subfield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3000" b="1" i="0">
                <a:solidFill>
                  <a:srgbClr val="1F2A2E"/>
                </a:solidFill>
                <a:latin typeface="Cambria"/>
              </a:rPr>
              <a:t>Research areas and most-cited papers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500" b="0" i="1">
                <a:solidFill>
                  <a:srgbClr val="4E5A5E"/>
                </a:solidFill>
                <a:latin typeface="Calibri"/>
              </a:rPr>
              <a:t>OpenAlex primary topic → field; citation counts at collection 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/>
            <a:r>
              <a:rPr sz="1000" b="0" i="0">
                <a:solidFill>
                  <a:srgbClr val="8A9497"/>
                </a:solidFill>
                <a:latin typeface="Calibri"/>
              </a:rPr>
              <a:t>DPCN Group 29 · CSIR biology labs · 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463040"/>
          <a:ext cx="493776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0" y="1463040"/>
          <a:ext cx="60350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2880360"/>
                <a:gridCol w="1234440"/>
                <a:gridCol w="502920"/>
                <a:gridCol w="594360"/>
                <a:gridCol w="502920"/>
              </a:tblGrid>
              <a:tr h="44057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Paper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Journal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Cites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Guidelines for the use and interpretation of assays for monitoring…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Autophagy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5,860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CCMB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Guidelines for the use and interpretation of assays for monitoring…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Autophagy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2,611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IGIB; IMTECH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Oxidative Stress: A Key Modulator in Neurodegenerative Diseases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Molecules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2019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2,251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IGIB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The Simons Genome Diversity Project: 300 genomes from 142 diverse…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Nature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1,595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CCMB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Nanoemulsion: Concepts, development and applications in drug delivery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Journal of Controlled…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2017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1,354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CDRI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SARS-CoV-2 B.1.617.2 Delta variant replication and immune evasion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Nature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1,337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CCMB; IGIB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Altered TMPRSS2 usage by SARS-CoV-2 Omicron impacts infectivity and…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Nature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1,148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IGIB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The genetic architecture of type 2 diabetes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Nature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1,049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CCMB; IGIB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The power of genetic diversity in genome-wide association studies of…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Nature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968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CCMB; IGIB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4058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A saturated map of common genetic variants associated with human height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Nature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815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CCMB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3000" b="1" i="0">
                <a:solidFill>
                  <a:srgbClr val="1F2A2E"/>
                </a:solidFill>
                <a:latin typeface="Cambria"/>
              </a:rPr>
              <a:t>Citation network within the four 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500" b="0" i="1">
                <a:solidFill>
                  <a:srgbClr val="4E5A5E"/>
                </a:solidFill>
                <a:latin typeface="Calibri"/>
              </a:rPr>
              <a:t>Directed graph: nodes = dataset papers, edges = paper A cites paper B (internal corpus)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/>
            <a:r>
              <a:rPr sz="1000" b="0" i="0">
                <a:solidFill>
                  <a:srgbClr val="8A9497"/>
                </a:solidFill>
                <a:latin typeface="Calibri"/>
              </a:rPr>
              <a:t>DPCN Group 29 · CSIR biology labs ·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325880" cy="114300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960119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2800" b="1" i="0">
                <a:solidFill>
                  <a:srgbClr val="1F2A2E"/>
                </a:solidFill>
                <a:latin typeface="Cambria"/>
              </a:rPr>
              <a:t>6,063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21408"/>
            <a:ext cx="960119" cy="4114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200" b="0" i="0">
                <a:solidFill>
                  <a:srgbClr val="4E5A5E"/>
                </a:solidFill>
                <a:latin typeface="Calibri"/>
              </a:rPr>
              <a:t>papers (nodes)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1463040"/>
            <a:ext cx="1325880" cy="114300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1572768"/>
            <a:ext cx="960119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2800" b="1" i="0">
                <a:solidFill>
                  <a:srgbClr val="1F2A2E"/>
                </a:solidFill>
                <a:latin typeface="Cambria"/>
              </a:rPr>
              <a:t>9,634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121408"/>
            <a:ext cx="960119" cy="4114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200" b="0" i="0">
                <a:solidFill>
                  <a:srgbClr val="4E5A5E"/>
                </a:solidFill>
                <a:latin typeface="Calibri"/>
              </a:rPr>
              <a:t>internal citations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463040"/>
            <a:ext cx="1325880" cy="114300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572768"/>
            <a:ext cx="960119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2800" b="1" i="0">
                <a:solidFill>
                  <a:srgbClr val="1F2A2E"/>
                </a:solidFill>
                <a:latin typeface="Cambria"/>
              </a:rPr>
              <a:t>56%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121408"/>
            <a:ext cx="960119" cy="4114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200" b="0" i="0">
                <a:solidFill>
                  <a:srgbClr val="4E5A5E"/>
                </a:solidFill>
                <a:latin typeface="Calibri"/>
              </a:rPr>
              <a:t>in largest component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1463040"/>
            <a:ext cx="1325880" cy="114300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572768"/>
            <a:ext cx="960119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2800" b="1" i="0">
                <a:solidFill>
                  <a:srgbClr val="1F2A2E"/>
                </a:solidFill>
                <a:latin typeface="Cambria"/>
              </a:rPr>
              <a:t>49%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121408"/>
            <a:ext cx="960119" cy="4114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200" b="0" i="0">
                <a:solidFill>
                  <a:srgbClr val="4E5A5E"/>
                </a:solidFill>
                <a:latin typeface="Calibri"/>
              </a:rPr>
              <a:t>never cited internally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8640" y="2926080"/>
          <a:ext cx="56692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143000"/>
                <a:gridCol w="1143000"/>
                <a:gridCol w="1143000"/>
                <a:gridCol w="1143000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cites →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CCMB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IGIB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IMTECH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CDRI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2E"/>
                          </a:solidFill>
                          <a:latin typeface="Calibri"/>
                        </a:rPr>
                        <a:t>CCMB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2E"/>
                          </a:solidFill>
                          <a:latin typeface="Calibri"/>
                        </a:rPr>
                        <a:t>1659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2E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2E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2E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2E"/>
                          </a:solidFill>
                          <a:latin typeface="Calibri"/>
                        </a:rPr>
                        <a:t>IGIB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2E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2E"/>
                          </a:solidFill>
                          <a:latin typeface="Calibri"/>
                        </a:rPr>
                        <a:t>1542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2E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2E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2E"/>
                          </a:solidFill>
                          <a:latin typeface="Calibri"/>
                        </a:rPr>
                        <a:t>IMTECH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2E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2E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2E"/>
                          </a:solidFill>
                          <a:latin typeface="Calibri"/>
                        </a:rPr>
                        <a:t>1192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2E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2E"/>
                          </a:solidFill>
                          <a:latin typeface="Calibri"/>
                        </a:rPr>
                        <a:t>CDRI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2E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2E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2E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2E"/>
                          </a:solidFill>
                          <a:latin typeface="Calibri"/>
                        </a:rPr>
                        <a:t>5035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48640" y="4800600"/>
            <a:ext cx="5669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700"/>
              </a:spcAft>
              <a:buChar char="•"/>
            </a:pPr>
            <a:r>
              <a:rPr sz="1200">
                <a:solidFill>
                  <a:srgbClr val="1F2A2E"/>
                </a:solidFill>
                <a:latin typeface="Calibri"/>
              </a:rPr>
              <a:t>Mean in-degree 1.59; maximum 31; reciprocity 0.006</a:t>
            </a:r>
          </a:p>
          <a:p>
            <a:pPr marL="201168" indent="-201168">
              <a:spcAft>
                <a:spcPts val="700"/>
              </a:spcAft>
              <a:buChar char="•"/>
            </a:pPr>
            <a:r>
              <a:rPr sz="1200">
                <a:solidFill>
                  <a:srgbClr val="1F2A2E"/>
                </a:solidFill>
                <a:latin typeface="Calibri"/>
              </a:rPr>
              <a:t>Heavy-tailed: the most-cited 10% of papers receive 51% of internal citations</a:t>
            </a:r>
          </a:p>
          <a:p>
            <a:pPr marL="201168" indent="-201168">
              <a:spcAft>
                <a:spcPts val="700"/>
              </a:spcAft>
              <a:buChar char="•"/>
            </a:pPr>
            <a:r>
              <a:rPr sz="1200">
                <a:solidFill>
                  <a:srgbClr val="1F2A2E"/>
                </a:solidFill>
                <a:latin typeface="Calibri"/>
              </a:rPr>
              <a:t>95% of lab-to-lab citations stay inside the citing lab (matrix diagonal)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463040"/>
            <a:ext cx="51206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500" b="1" i="0">
                <a:solidFill>
                  <a:srgbClr val="1F2A2E"/>
                </a:solidFill>
                <a:latin typeface="Cambria"/>
              </a:rPr>
              <a:t>PageRank top 10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583680" y="1874519"/>
          <a:ext cx="51206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548640"/>
                <a:gridCol w="685800"/>
                <a:gridCol w="594360"/>
              </a:tblGrid>
              <a:tr h="39901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Paper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In-deg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Nitric oxide-mediated apoptosis of neutrophils through…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CDRI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Theophylline, a methylxanthine drug induces osteopenia and…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CDRI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Altered glucose and lipid homeostasis in liver and adipose…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2017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CDRI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Computational Analysis and Phylogenetic Clustering of…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IGIB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The Simons Genome Diversity Project: 300 genomes from 142…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CCMB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High throughput detection and genetic epidemiology of…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IGIB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An F-type lectin domain directs the activity of…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2018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IMTECH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Skp2 inhibits osteogenesis by promoting ubiquitin–proteasome…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CDRI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Drug Repurposing: A new Front in the War Against…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CDRI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990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Globular adiponectin reverses osteo-sarcopenia and altered…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2017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CDRI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A2E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3000" b="1" i="0">
                <a:solidFill>
                  <a:srgbClr val="1F2A2E"/>
                </a:solidFill>
                <a:latin typeface="Cambria"/>
              </a:rPr>
              <a:t>Indian citation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500" b="0" i="1">
                <a:solidFill>
                  <a:srgbClr val="4E5A5E"/>
                </a:solidFill>
                <a:latin typeface="Calibri"/>
              </a:rPr>
              <a:t>Citations received from (in) and given to (out) works carrying another Indian institution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/>
            <a:r>
              <a:rPr sz="1000" b="0" i="0">
                <a:solidFill>
                  <a:srgbClr val="8A9497"/>
                </a:solidFill>
                <a:latin typeface="Calibri"/>
              </a:rPr>
              <a:t>DPCN Group 29 · CSIR biology labs · 8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463040"/>
          <a:ext cx="585216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029200"/>
            <a:ext cx="566928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200" b="0" i="1">
                <a:solidFill>
                  <a:srgbClr val="4E5A5E"/>
                </a:solidFill>
                <a:latin typeface="Calibri"/>
              </a:rPr>
              <a:t>Citations received per citing year (2026* partial)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49240"/>
            <a:ext cx="1325880" cy="114300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458968"/>
            <a:ext cx="960119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2800" b="1" i="0">
                <a:solidFill>
                  <a:srgbClr val="1F2A2E"/>
                </a:solidFill>
                <a:latin typeface="Cambria"/>
              </a:rPr>
              <a:t>0.87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07607"/>
            <a:ext cx="960119" cy="4114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200" b="0" i="0">
                <a:solidFill>
                  <a:srgbClr val="4E5A5E"/>
                </a:solidFill>
                <a:latin typeface="Calibri"/>
              </a:rPr>
              <a:t>CCMB in/out ratio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5349240"/>
            <a:ext cx="1325880" cy="114300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5458968"/>
            <a:ext cx="960119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2800" b="1" i="0">
                <a:solidFill>
                  <a:srgbClr val="1F2A2E"/>
                </a:solidFill>
                <a:latin typeface="Cambria"/>
              </a:rPr>
              <a:t>1.07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6007607"/>
            <a:ext cx="960119" cy="4114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200" b="0" i="0">
                <a:solidFill>
                  <a:srgbClr val="4E5A5E"/>
                </a:solidFill>
                <a:latin typeface="Calibri"/>
              </a:rPr>
              <a:t>IGIB in/out ratio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5349240"/>
            <a:ext cx="1325880" cy="114300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5458968"/>
            <a:ext cx="960119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2800" b="1" i="0">
                <a:solidFill>
                  <a:srgbClr val="1F2A2E"/>
                </a:solidFill>
                <a:latin typeface="Cambria"/>
              </a:rPr>
              <a:t>1.05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6007607"/>
            <a:ext cx="960119" cy="4114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200" b="0" i="0">
                <a:solidFill>
                  <a:srgbClr val="4E5A5E"/>
                </a:solidFill>
                <a:latin typeface="Calibri"/>
              </a:rPr>
              <a:t>IMTECH in/out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5349240"/>
            <a:ext cx="1325880" cy="114300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5458968"/>
            <a:ext cx="960119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2800" b="1" i="0">
                <a:solidFill>
                  <a:srgbClr val="1F2A2E"/>
                </a:solidFill>
                <a:latin typeface="Cambria"/>
              </a:rPr>
              <a:t>0.79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6007607"/>
            <a:ext cx="960119" cy="4114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200" b="0" i="0">
                <a:solidFill>
                  <a:srgbClr val="4E5A5E"/>
                </a:solidFill>
                <a:latin typeface="Calibri"/>
              </a:rPr>
              <a:t>CDRI in/out ratio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463040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500" b="1" i="0">
                <a:solidFill>
                  <a:srgbClr val="1F2A2E"/>
                </a:solidFill>
                <a:latin typeface="Cambria"/>
              </a:rPr>
              <a:t>Top Indian institutes citing each lab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675120" y="1874519"/>
          <a:ext cx="5029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291840"/>
                <a:gridCol w="914400"/>
              </a:tblGrid>
              <a:tr h="281353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Citing institute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Cites in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</a:tr>
              <a:tr h="281353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CCMB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Indian Institute of Chemical Technology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318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81353">
                <a:tc>
                  <a:txBody>
                    <a:bodyPr/>
                    <a:lstStyle/>
                    <a:p/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NIPER (Hyderabad)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221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</a:tr>
              <a:tr h="281353">
                <a:tc>
                  <a:txBody>
                    <a:bodyPr/>
                    <a:lstStyle/>
                    <a:p/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National Chemical Laboratory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192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81353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IGIB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All India Institute of Medical Sciences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711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</a:tr>
              <a:tr h="281353">
                <a:tc>
                  <a:txBody>
                    <a:bodyPr/>
                    <a:lstStyle/>
                    <a:p/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University of Delhi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505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81353">
                <a:tc>
                  <a:txBody>
                    <a:bodyPr/>
                    <a:lstStyle/>
                    <a:p/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Maharshi Dayanand University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343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</a:tr>
              <a:tr h="281353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IMTECH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IIIT Delhi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327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81353">
                <a:tc>
                  <a:txBody>
                    <a:bodyPr/>
                    <a:lstStyle/>
                    <a:p/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Panjab University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260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</a:tr>
              <a:tr h="281353">
                <a:tc>
                  <a:txBody>
                    <a:bodyPr/>
                    <a:lstStyle/>
                    <a:p/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NIPER (Mohali)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167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81353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CDRI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Jamia Hamdard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545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</a:tr>
              <a:tr h="281353">
                <a:tc>
                  <a:txBody>
                    <a:bodyPr/>
                    <a:lstStyle/>
                    <a:p/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SRM Institute of Science and Technology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496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81364">
                <a:tc>
                  <a:txBody>
                    <a:bodyPr/>
                    <a:lstStyle/>
                    <a:p/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NIPER (Hyderabad)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449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675120" y="5715000"/>
            <a:ext cx="5029200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100" b="0" i="0">
                <a:solidFill>
                  <a:srgbClr val="4E5A5E"/>
                </a:solidFill>
                <a:latin typeface="Calibri"/>
              </a:rPr>
              <a:t>In = CCMB 5,400, IGIB 7,569, IMTECH 4,806, CDRI 13,127; out = CCMB 6,228, IGIB 7,046, IMTECH 4,567, CDRI 16,565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3000" b="1" i="0">
                <a:solidFill>
                  <a:srgbClr val="1F2A2E"/>
                </a:solidFill>
                <a:latin typeface="Cambria"/>
              </a:rPr>
              <a:t>Authorship network: brokers and communities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500" b="0" i="1">
                <a:solidFill>
                  <a:srgbClr val="4E5A5E"/>
                </a:solidFill>
                <a:latin typeface="Calibri"/>
              </a:rPr>
              <a:t>Faculty co-authorship graph: 274 faculty, 1311 links, Louvain modularity Q = 0.54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/>
            <a:r>
              <a:rPr sz="1000" b="0" i="0">
                <a:solidFill>
                  <a:srgbClr val="8A9497"/>
                </a:solidFill>
                <a:latin typeface="Calibri"/>
              </a:rPr>
              <a:t>DPCN Group 29 · CSIR biology labs · 9</a:t>
            </a:r>
          </a:p>
        </p:txBody>
      </p:sp>
      <p:pic>
        <p:nvPicPr>
          <p:cNvPr id="5" name="Picture 4" descr="authorship_facul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5643154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1463040"/>
            <a:ext cx="265176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400" b="1" i="0">
                <a:solidFill>
                  <a:srgbClr val="1F2A2E"/>
                </a:solidFill>
                <a:latin typeface="Cambria"/>
              </a:rPr>
              <a:t>Most collaborative (degree)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09360" y="1828800"/>
          <a:ext cx="26517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594360"/>
                <a:gridCol w="457200"/>
              </a:tblGrid>
              <a:tr h="304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Faculty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Deg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Kalyan Mitra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CDRI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Jiaur R Gayen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CDRI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Rabi S Bhatta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CDRI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Mohammad I Siddiqi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CDRI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Madhav N Mugale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CDRI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098280" y="1463040"/>
            <a:ext cx="265176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400" b="1" i="0">
                <a:solidFill>
                  <a:srgbClr val="1F2A2E"/>
                </a:solidFill>
                <a:latin typeface="Cambria"/>
              </a:rPr>
              <a:t>Bridges (betweenness)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098280" y="1828800"/>
          <a:ext cx="26517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94360"/>
                <a:gridCol w="502920"/>
              </a:tblGrid>
              <a:tr h="304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Faculty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Betw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Rajesh Pandey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IGIB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0.165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Deepak Sharma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IMTECH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0.095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P. Anil Kumar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IMTECH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0.089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Divya Tej Sowpati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CCMB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0.068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Krishan Gopal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IMTECH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0.052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09360" y="3931920"/>
            <a:ext cx="5440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700"/>
              </a:spcAft>
              <a:buChar char="•"/>
            </a:pPr>
            <a:r>
              <a:rPr sz="1200">
                <a:solidFill>
                  <a:srgbClr val="1F2A2E"/>
                </a:solidFill>
                <a:latin typeface="Calibri"/>
              </a:rPr>
              <a:t>31 communities; the largest have 54, 51 and 43 faculty; 44% of communities with 3+ members sit within a single lab</a:t>
            </a:r>
          </a:p>
          <a:p>
            <a:pPr marL="201168" indent="-201168">
              <a:spcAft>
                <a:spcPts val="700"/>
              </a:spcAft>
              <a:buChar char="•"/>
            </a:pPr>
            <a:r>
              <a:rPr sz="1200">
                <a:solidFill>
                  <a:srgbClr val="1F2A2E"/>
                </a:solidFill>
                <a:latin typeface="Calibri"/>
              </a:rPr>
              <a:t>98 of 1311 faculty links join two labs; 20 faculty have no faculty co-author</a:t>
            </a:r>
          </a:p>
          <a:p>
            <a:pPr marL="201168" indent="-201168">
              <a:spcAft>
                <a:spcPts val="700"/>
              </a:spcAft>
              <a:buChar char="•"/>
            </a:pPr>
            <a:r>
              <a:rPr sz="1200">
                <a:solidFill>
                  <a:srgbClr val="1F2A2E"/>
                </a:solidFill>
                <a:latin typeface="Calibri"/>
              </a:rPr>
              <a:t>Hub author: Shantanu Sengupta (IGIB) co-authors with 116 Indian partner institutions</a:t>
            </a:r>
          </a:p>
          <a:p>
            <a:pPr marL="201168" indent="-201168">
              <a:spcAft>
                <a:spcPts val="700"/>
              </a:spcAft>
              <a:buChar char="•"/>
            </a:pPr>
            <a:r>
              <a:rPr sz="1200">
                <a:solidFill>
                  <a:srgbClr val="1F2A2E"/>
                </a:solidFill>
                <a:latin typeface="Calibri"/>
              </a:rPr>
              <a:t>All-author graph: 6,124 authors, Q = 0.76; 48 papers with &gt; 50 authors excluded from pairs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3000" b="1" i="0">
                <a:solidFill>
                  <a:srgbClr val="1F2A2E"/>
                </a:solidFill>
                <a:latin typeface="Cambria"/>
              </a:rPr>
              <a:t>Connectivity map and 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500" b="0" i="1">
                <a:solidFill>
                  <a:srgbClr val="4E5A5E"/>
                </a:solidFill>
                <a:latin typeface="Calibri"/>
              </a:rPr>
              <a:t>Who our labs co-author with across Indian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/>
            <a:r>
              <a:rPr sz="1000" b="0" i="0">
                <a:solidFill>
                  <a:srgbClr val="8A9497"/>
                </a:solidFill>
                <a:latin typeface="Calibri"/>
              </a:rPr>
              <a:t>DPCN Group 29 · CSIR biology labs · 10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463040"/>
          <a:ext cx="51206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120640"/>
            <a:ext cx="502920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200" b="0" i="1">
                <a:solidFill>
                  <a:srgbClr val="4E5A5E"/>
                </a:solidFill>
                <a:latin typeface="Calibri"/>
              </a:rPr>
              <a:t>Shared papers by partner cluster (all four labs)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5486400"/>
          <a:ext cx="5029200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834640"/>
                <a:gridCol w="685800"/>
                <a:gridCol w="777240"/>
              </a:tblGrid>
              <a:tr h="17373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Top partner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Papers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Jaccard</a:t>
                      </a:r>
                    </a:p>
                  </a:txBody>
                  <a:tcPr marL="45720" marR="45720" marT="18288" marB="18288">
                    <a:solidFill>
                      <a:srgbClr val="16323A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CCMB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CSIR-IICT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106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0.08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IGIB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AIIMS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250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IMTECH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Panjab University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0.14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CDRI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King George's Medical University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138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2E"/>
                          </a:solidFill>
                          <a:latin typeface="Calibri"/>
                        </a:rPr>
                        <a:t>0.04</a:t>
                      </a:r>
                    </a:p>
                  </a:txBody>
                  <a:tcPr marL="45720" marR="45720" marT="18288" marB="18288">
                    <a:solidFill>
                      <a:srgbClr val="EEF4F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943600" y="1463040"/>
            <a:ext cx="5760720" cy="489204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600200"/>
            <a:ext cx="5303520" cy="4114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/>
            <a:r>
              <a:rPr sz="1800" b="1" i="0">
                <a:solidFill>
                  <a:srgbClr val="1F2A2E"/>
                </a:solidFill>
                <a:latin typeface="Cambria"/>
              </a:rPr>
              <a:t>Key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103120"/>
            <a:ext cx="5349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700"/>
              </a:spcAft>
              <a:buChar char="•"/>
            </a:pPr>
            <a:r>
              <a:rPr sz="1500">
                <a:solidFill>
                  <a:srgbClr val="1F2A2E"/>
                </a:solidFill>
                <a:latin typeface="Calibri"/>
              </a:rPr>
              <a:t>CDRI is the most productive lab (2,699 papers); IMTECH has the highest Q1 share (76%).</a:t>
            </a:r>
          </a:p>
          <a:p>
            <a:pPr marL="201168" indent="-201168">
              <a:spcAft>
                <a:spcPts val="700"/>
              </a:spcAft>
              <a:buChar char="•"/>
            </a:pPr>
            <a:r>
              <a:rPr sz="1500">
                <a:solidFill>
                  <a:srgbClr val="1F2A2E"/>
                </a:solidFill>
                <a:latin typeface="Calibri"/>
              </a:rPr>
              <a:t>56% of papers have an Indian partner co-author and 21% a foreign one.</a:t>
            </a:r>
          </a:p>
          <a:p>
            <a:pPr marL="201168" indent="-201168">
              <a:spcAft>
                <a:spcPts val="700"/>
              </a:spcAft>
              <a:buChar char="•"/>
            </a:pPr>
            <a:r>
              <a:rPr sz="1500">
                <a:solidFill>
                  <a:srgbClr val="1F2A2E"/>
                </a:solidFill>
                <a:latin typeface="Calibri"/>
              </a:rPr>
              <a:t>Strongest ties outside CSIR: University (other) (2,157 papers), Medical (1,053 papers), Central University (650 papers).</a:t>
            </a:r>
          </a:p>
          <a:p>
            <a:pPr marL="201168" indent="-201168">
              <a:spcAft>
                <a:spcPts val="700"/>
              </a:spcAft>
              <a:buChar char="•"/>
            </a:pPr>
            <a:r>
              <a:rPr sz="1500">
                <a:solidFill>
                  <a:srgbClr val="1F2A2E"/>
                </a:solidFill>
                <a:latin typeface="Calibri"/>
              </a:rPr>
              <a:t>Indian citation in/out ratio 0.79–1.07: IGIB, IMTECH receive more than they give; CCMB, CDRI give more than they receive.</a:t>
            </a:r>
          </a:p>
          <a:p>
            <a:pPr marL="201168" indent="-201168">
              <a:spcAft>
                <a:spcPts val="700"/>
              </a:spcAft>
              <a:buChar char="•"/>
            </a:pPr>
            <a:r>
              <a:rPr sz="1500">
                <a:solidFill>
                  <a:srgbClr val="1F2A2E"/>
                </a:solidFill>
                <a:latin typeface="Calibri"/>
              </a:rPr>
              <a:t>Collaboration is lab-bound: 98 of 1311 faculty links and 5% of lab-to-lab citations cross between the four labs.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